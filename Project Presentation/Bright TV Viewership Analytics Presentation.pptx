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00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72"/>
  </p:normalViewPr>
  <p:slideViewPr>
    <p:cSldViewPr snapToGrid="0">
      <p:cViewPr>
        <p:scale>
          <a:sx n="75" d="100"/>
          <a:sy n="75" d="100"/>
        </p:scale>
        <p:origin x="250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ya\Downloads\Bright%20TV%20Present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ya\Downloads\Bright_TV_Joined_Tab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ya\Downloads\Bright_TV_Joined_Tabl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ya\Downloads\Bright%20TV%20Presentati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ya\Downloads\Bright_TV_Joined_Table%20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ya\Downloads\Bright%20TV%20Presentati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ya\Downloads\New_Query_2026_04_19_18_50_10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pPr>
            <a:r>
              <a:rPr lang="en-ZA" dirty="0">
                <a:solidFill>
                  <a:srgbClr val="FFC000"/>
                </a:solidFill>
              </a:rPr>
              <a:t>Peak Viewing Hours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C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'Peak Viewing Hours'!$A$1</c:f>
              <c:strCache>
                <c:ptCount val="1"/>
                <c:pt idx="0">
                  <c:v>watch_hour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val>
            <c:numRef>
              <c:f>'Peak Viewing Hours'!$A$2:$A$25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B8-4971-B2C7-B96C842808B2}"/>
            </c:ext>
          </c:extLst>
        </c:ser>
        <c:ser>
          <c:idx val="1"/>
          <c:order val="1"/>
          <c:tx>
            <c:strRef>
              <c:f>'Peak Viewing Hours'!$B$1</c:f>
              <c:strCache>
                <c:ptCount val="1"/>
                <c:pt idx="0">
                  <c:v>total_sessions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val>
            <c:numRef>
              <c:f>'Peak Viewing Hours'!$B$2:$B$25</c:f>
              <c:numCache>
                <c:formatCode>General</c:formatCode>
                <c:ptCount val="24"/>
                <c:pt idx="0">
                  <c:v>180</c:v>
                </c:pt>
                <c:pt idx="1">
                  <c:v>103</c:v>
                </c:pt>
                <c:pt idx="2">
                  <c:v>80</c:v>
                </c:pt>
                <c:pt idx="3">
                  <c:v>55</c:v>
                </c:pt>
                <c:pt idx="4">
                  <c:v>49</c:v>
                </c:pt>
                <c:pt idx="5">
                  <c:v>94</c:v>
                </c:pt>
                <c:pt idx="6">
                  <c:v>180</c:v>
                </c:pt>
                <c:pt idx="7">
                  <c:v>298</c:v>
                </c:pt>
                <c:pt idx="8">
                  <c:v>401</c:v>
                </c:pt>
                <c:pt idx="9">
                  <c:v>402</c:v>
                </c:pt>
                <c:pt idx="10">
                  <c:v>541</c:v>
                </c:pt>
                <c:pt idx="11">
                  <c:v>539</c:v>
                </c:pt>
                <c:pt idx="12">
                  <c:v>634</c:v>
                </c:pt>
                <c:pt idx="13">
                  <c:v>568</c:v>
                </c:pt>
                <c:pt idx="14">
                  <c:v>620</c:v>
                </c:pt>
                <c:pt idx="15">
                  <c:v>637</c:v>
                </c:pt>
                <c:pt idx="16">
                  <c:v>627</c:v>
                </c:pt>
                <c:pt idx="17">
                  <c:v>648</c:v>
                </c:pt>
                <c:pt idx="18">
                  <c:v>628</c:v>
                </c:pt>
                <c:pt idx="19">
                  <c:v>647</c:v>
                </c:pt>
                <c:pt idx="20">
                  <c:v>622</c:v>
                </c:pt>
                <c:pt idx="21">
                  <c:v>585</c:v>
                </c:pt>
                <c:pt idx="22">
                  <c:v>498</c:v>
                </c:pt>
                <c:pt idx="23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B8-4971-B2C7-B96C842808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6710688"/>
        <c:axId val="622487344"/>
      </c:barChart>
      <c:catAx>
        <c:axId val="12267106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2487344"/>
        <c:crosses val="autoZero"/>
        <c:auto val="1"/>
        <c:lblAlgn val="ctr"/>
        <c:lblOffset val="100"/>
        <c:noMultiLvlLbl val="0"/>
      </c:catAx>
      <c:valAx>
        <c:axId val="622487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710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Peak Viewing 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result!$B$1</c:f>
              <c:strCache>
                <c:ptCount val="1"/>
                <c:pt idx="0">
                  <c:v>total_watch_time_minutes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result!$A$2:$A$8</c:f>
              <c:strCache>
                <c:ptCount val="7"/>
                <c:pt idx="0">
                  <c:v>Monday</c:v>
                </c:pt>
                <c:pt idx="1">
                  <c:v>Sunday</c:v>
                </c:pt>
                <c:pt idx="2">
                  <c:v>Tuesday</c:v>
                </c:pt>
                <c:pt idx="3">
                  <c:v>Thursday</c:v>
                </c:pt>
                <c:pt idx="4">
                  <c:v>Wednesday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result!$B$2:$B$8</c:f>
              <c:numCache>
                <c:formatCode>General</c:formatCode>
                <c:ptCount val="7"/>
                <c:pt idx="0">
                  <c:v>6894.5</c:v>
                </c:pt>
                <c:pt idx="1">
                  <c:v>11693.63</c:v>
                </c:pt>
                <c:pt idx="2">
                  <c:v>11933.28</c:v>
                </c:pt>
                <c:pt idx="3">
                  <c:v>13938.38</c:v>
                </c:pt>
                <c:pt idx="4">
                  <c:v>14047.57</c:v>
                </c:pt>
                <c:pt idx="5">
                  <c:v>15115.48</c:v>
                </c:pt>
                <c:pt idx="6">
                  <c:v>17761.98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2D-469C-9A21-A0D0426B53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60280736"/>
        <c:axId val="1260278656"/>
      </c:barChart>
      <c:catAx>
        <c:axId val="12602807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278656"/>
        <c:crosses val="autoZero"/>
        <c:auto val="1"/>
        <c:lblAlgn val="ctr"/>
        <c:lblOffset val="100"/>
        <c:noMultiLvlLbl val="0"/>
      </c:catAx>
      <c:valAx>
        <c:axId val="12602786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28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FFFF00"/>
                </a:solidFill>
              </a:rPr>
              <a:t>Peak Viewing 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FF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result!$B$1</c:f>
              <c:strCache>
                <c:ptCount val="1"/>
                <c:pt idx="0">
                  <c:v>total_watch_time_minutes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result!$A$2:$A$8</c:f>
              <c:strCache>
                <c:ptCount val="7"/>
                <c:pt idx="0">
                  <c:v>Monday</c:v>
                </c:pt>
                <c:pt idx="1">
                  <c:v>Sunday</c:v>
                </c:pt>
                <c:pt idx="2">
                  <c:v>Tuesday</c:v>
                </c:pt>
                <c:pt idx="3">
                  <c:v>Thursday</c:v>
                </c:pt>
                <c:pt idx="4">
                  <c:v>Wednesday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result!$B$2:$B$8</c:f>
              <c:numCache>
                <c:formatCode>General</c:formatCode>
                <c:ptCount val="7"/>
                <c:pt idx="0">
                  <c:v>6894.5</c:v>
                </c:pt>
                <c:pt idx="1">
                  <c:v>11693.63</c:v>
                </c:pt>
                <c:pt idx="2">
                  <c:v>11933.28</c:v>
                </c:pt>
                <c:pt idx="3">
                  <c:v>13938.38</c:v>
                </c:pt>
                <c:pt idx="4">
                  <c:v>14047.57</c:v>
                </c:pt>
                <c:pt idx="5">
                  <c:v>15115.48</c:v>
                </c:pt>
                <c:pt idx="6">
                  <c:v>17761.98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D3-40EB-8764-715C1B15E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60280736"/>
        <c:axId val="1260278656"/>
      </c:barChart>
      <c:catAx>
        <c:axId val="12602807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278656"/>
        <c:crosses val="autoZero"/>
        <c:auto val="1"/>
        <c:lblAlgn val="ctr"/>
        <c:lblOffset val="100"/>
        <c:noMultiLvlLbl val="0"/>
      </c:catAx>
      <c:valAx>
        <c:axId val="12602786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28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TV Presentation.xlsx]Most Viewed Channels!PivotTable4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ZA" sz="1800" dirty="0">
                <a:solidFill>
                  <a:srgbClr val="00B050"/>
                </a:solidFill>
              </a:rPr>
              <a:t>Most Viewed</a:t>
            </a:r>
            <a:r>
              <a:rPr lang="en-ZA" sz="1800" baseline="0" dirty="0">
                <a:solidFill>
                  <a:srgbClr val="00B050"/>
                </a:solidFill>
              </a:rPr>
              <a:t> Channels</a:t>
            </a:r>
            <a:endParaRPr lang="en-ZA" sz="1800" dirty="0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3784921671018277"/>
          <c:y val="1.8903591682419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'Most Viewed Channels'!$B$3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'Most Viewed Channels'!$A$4:$A$23</c:f>
              <c:strCache>
                <c:ptCount val="19"/>
                <c:pt idx="0">
                  <c:v>SS Live Events</c:v>
                </c:pt>
                <c:pt idx="1">
                  <c:v>ICC WC 2011</c:v>
                </c:pt>
                <c:pt idx="2">
                  <c:v>Channel O</c:v>
                </c:pt>
                <c:pt idx="3">
                  <c:v>Trace TV</c:v>
                </c:pt>
                <c:pt idx="4">
                  <c:v>SS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  <c:pt idx="10">
                  <c:v>SawSee</c:v>
                </c:pt>
                <c:pt idx="11">
                  <c:v>M-Net</c:v>
                </c:pt>
                <c:pt idx="12">
                  <c:v>Vuzu</c:v>
                </c:pt>
                <c:pt idx="13">
                  <c:v>DStv Events 1</c:v>
                </c:pt>
                <c:pt idx="14">
                  <c:v>Break in transmission</c:v>
                </c:pt>
                <c:pt idx="15">
                  <c:v>kykNET</c:v>
                </c:pt>
                <c:pt idx="16">
                  <c:v>MK</c:v>
                </c:pt>
                <c:pt idx="17">
                  <c:v>Wimbledon</c:v>
                </c:pt>
                <c:pt idx="18">
                  <c:v>Live on SS</c:v>
                </c:pt>
              </c:strCache>
            </c:strRef>
          </c:cat>
          <c:val>
            <c:numRef>
              <c:f>'Most Viewed Channels'!$B$4:$B$23</c:f>
              <c:numCache>
                <c:formatCode>General</c:formatCode>
                <c:ptCount val="19"/>
                <c:pt idx="0">
                  <c:v>1662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  <c:pt idx="10">
                  <c:v>255</c:v>
                </c:pt>
                <c:pt idx="11">
                  <c:v>116</c:v>
                </c:pt>
                <c:pt idx="12">
                  <c:v>111</c:v>
                </c:pt>
                <c:pt idx="13">
                  <c:v>107</c:v>
                </c:pt>
                <c:pt idx="14">
                  <c:v>66</c:v>
                </c:pt>
                <c:pt idx="15">
                  <c:v>45</c:v>
                </c:pt>
                <c:pt idx="16">
                  <c:v>32</c:v>
                </c:pt>
                <c:pt idx="17">
                  <c:v>3</c:v>
                </c:pt>
                <c:pt idx="1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09-4B2E-92A5-4F00EA6DAA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07394800"/>
        <c:axId val="1107407280"/>
        <c:axId val="0"/>
      </c:bar3DChart>
      <c:catAx>
        <c:axId val="1107394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407280"/>
        <c:crosses val="autoZero"/>
        <c:auto val="1"/>
        <c:lblAlgn val="ctr"/>
        <c:lblOffset val="100"/>
        <c:noMultiLvlLbl val="0"/>
      </c:catAx>
      <c:valAx>
        <c:axId val="1107407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394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[Bright_TV_Joined_Table (1).xlsx]Sheet1!PivotTable6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r>
              <a:rPr lang="en-GB" dirty="0">
                <a:solidFill>
                  <a:srgbClr val="FFFF00"/>
                </a:solidFill>
              </a:rPr>
              <a:t>Total Watch Time by Province</a:t>
            </a:r>
            <a:endParaRPr lang="en-ZA" dirty="0">
              <a:solidFill>
                <a:srgbClr val="FFFF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FF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Sheet1!$A$4:$A$12</c:f>
              <c:strCache>
                <c:ptCount val="8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Eastern Cape</c:v>
                </c:pt>
                <c:pt idx="5">
                  <c:v>Limpopo</c:v>
                </c:pt>
                <c:pt idx="6">
                  <c:v>Free State</c:v>
                </c:pt>
                <c:pt idx="7">
                  <c:v>North West</c:v>
                </c:pt>
              </c:strCache>
            </c:strRef>
          </c:cat>
          <c:val>
            <c:numRef>
              <c:f>Sheet1!$B$4:$B$12</c:f>
              <c:numCache>
                <c:formatCode>General</c:formatCode>
                <c:ptCount val="8"/>
                <c:pt idx="0">
                  <c:v>33216.629999999997</c:v>
                </c:pt>
                <c:pt idx="1">
                  <c:v>18019.53</c:v>
                </c:pt>
                <c:pt idx="2">
                  <c:v>9493.0300000000007</c:v>
                </c:pt>
                <c:pt idx="3">
                  <c:v>7844.68</c:v>
                </c:pt>
                <c:pt idx="4">
                  <c:v>6943.13</c:v>
                </c:pt>
                <c:pt idx="5">
                  <c:v>6279.62</c:v>
                </c:pt>
                <c:pt idx="6">
                  <c:v>3143.73</c:v>
                </c:pt>
                <c:pt idx="7">
                  <c:v>2609.1999999999998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12-4AA6-A6C7-8B8A65100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90679568"/>
        <c:axId val="1390672912"/>
      </c:barChart>
      <c:catAx>
        <c:axId val="13906795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672912"/>
        <c:crosses val="autoZero"/>
        <c:auto val="1"/>
        <c:lblAlgn val="ctr"/>
        <c:lblOffset val="100"/>
        <c:noMultiLvlLbl val="0"/>
      </c:catAx>
      <c:valAx>
        <c:axId val="1390672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679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TV Presentation.xlsx]Most Viewed Channels!PivotTable4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r>
              <a:rPr lang="en-ZA">
                <a:solidFill>
                  <a:srgbClr val="FFFF00"/>
                </a:solidFill>
              </a:rPr>
              <a:t>Most Viewed</a:t>
            </a:r>
            <a:r>
              <a:rPr lang="en-ZA" baseline="0">
                <a:solidFill>
                  <a:srgbClr val="FFFF00"/>
                </a:solidFill>
              </a:rPr>
              <a:t> Channels</a:t>
            </a:r>
            <a:endParaRPr lang="en-ZA">
              <a:solidFill>
                <a:srgbClr val="FFFF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FF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7808358194356141"/>
          <c:y val="9.2945417095777555E-2"/>
          <c:w val="0.79550337457817777"/>
          <c:h val="0.85046343975283212"/>
        </c:manualLayout>
      </c:layout>
      <c:bar3DChart>
        <c:barDir val="bar"/>
        <c:grouping val="stacked"/>
        <c:varyColors val="0"/>
        <c:ser>
          <c:idx val="0"/>
          <c:order val="0"/>
          <c:tx>
            <c:strRef>
              <c:f>'Most Viewed Channels'!$B$3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'Most Viewed Channels'!$A$4:$A$23</c:f>
              <c:strCache>
                <c:ptCount val="19"/>
                <c:pt idx="0">
                  <c:v>SS Live Events</c:v>
                </c:pt>
                <c:pt idx="1">
                  <c:v>ICC WC 2011</c:v>
                </c:pt>
                <c:pt idx="2">
                  <c:v>Channel O</c:v>
                </c:pt>
                <c:pt idx="3">
                  <c:v>Trace TV</c:v>
                </c:pt>
                <c:pt idx="4">
                  <c:v>SS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  <c:pt idx="10">
                  <c:v>SawSee</c:v>
                </c:pt>
                <c:pt idx="11">
                  <c:v>M-Net</c:v>
                </c:pt>
                <c:pt idx="12">
                  <c:v>Vuzu</c:v>
                </c:pt>
                <c:pt idx="13">
                  <c:v>DStv Events 1</c:v>
                </c:pt>
                <c:pt idx="14">
                  <c:v>Break in transmission</c:v>
                </c:pt>
                <c:pt idx="15">
                  <c:v>kykNET</c:v>
                </c:pt>
                <c:pt idx="16">
                  <c:v>MK</c:v>
                </c:pt>
                <c:pt idx="17">
                  <c:v>Wimbledon</c:v>
                </c:pt>
                <c:pt idx="18">
                  <c:v>Live on SS</c:v>
                </c:pt>
              </c:strCache>
            </c:strRef>
          </c:cat>
          <c:val>
            <c:numRef>
              <c:f>'Most Viewed Channels'!$B$4:$B$23</c:f>
              <c:numCache>
                <c:formatCode>General</c:formatCode>
                <c:ptCount val="19"/>
                <c:pt idx="0">
                  <c:v>1662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  <c:pt idx="10">
                  <c:v>255</c:v>
                </c:pt>
                <c:pt idx="11">
                  <c:v>116</c:v>
                </c:pt>
                <c:pt idx="12">
                  <c:v>111</c:v>
                </c:pt>
                <c:pt idx="13">
                  <c:v>107</c:v>
                </c:pt>
                <c:pt idx="14">
                  <c:v>66</c:v>
                </c:pt>
                <c:pt idx="15">
                  <c:v>45</c:v>
                </c:pt>
                <c:pt idx="16">
                  <c:v>32</c:v>
                </c:pt>
                <c:pt idx="17">
                  <c:v>3</c:v>
                </c:pt>
                <c:pt idx="1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69-40A2-B0D2-2C834D560C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07394800"/>
        <c:axId val="1107407280"/>
        <c:axId val="0"/>
      </c:bar3DChart>
      <c:catAx>
        <c:axId val="1107394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407280"/>
        <c:crosses val="autoZero"/>
        <c:auto val="1"/>
        <c:lblAlgn val="ctr"/>
        <c:lblOffset val="100"/>
        <c:noMultiLvlLbl val="0"/>
      </c:catAx>
      <c:valAx>
        <c:axId val="1107407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7394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[New_Query_2026_04_19_18_50_10.xlsx]Sheet4!PivotTable4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r>
              <a:rPr lang="en-GB" sz="1400" b="1" i="0" u="none" strike="noStrike" baseline="0" dirty="0">
                <a:solidFill>
                  <a:srgbClr val="FFFF00"/>
                </a:solidFill>
              </a:rPr>
              <a:t>Top Channels by Average Watch Time</a:t>
            </a:r>
            <a:endParaRPr lang="en-US" dirty="0">
              <a:solidFill>
                <a:srgbClr val="FFFF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FFFF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Sheet4!$B$3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Sheet4!$A$4:$A$23</c:f>
              <c:strCache>
                <c:ptCount val="19"/>
                <c:pt idx="0">
                  <c:v>Wimbledon</c:v>
                </c:pt>
                <c:pt idx="1">
                  <c:v>Vuzu</c:v>
                </c:pt>
                <c:pt idx="2">
                  <c:v>Break in transmission</c:v>
                </c:pt>
                <c:pt idx="3">
                  <c:v>MK</c:v>
                </c:pt>
                <c:pt idx="4">
                  <c:v>M-Net</c:v>
                </c:pt>
                <c:pt idx="5">
                  <c:v>Live on SuperSport</c:v>
                </c:pt>
                <c:pt idx="6">
                  <c:v>SawSee</c:v>
                </c:pt>
                <c:pt idx="7">
                  <c:v>DStv Events 1</c:v>
                </c:pt>
                <c:pt idx="8">
                  <c:v>Africa Magic</c:v>
                </c:pt>
                <c:pt idx="9">
                  <c:v>kykNET</c:v>
                </c:pt>
                <c:pt idx="10">
                  <c:v>Cartoon Network</c:v>
                </c:pt>
                <c:pt idx="11">
                  <c:v>E! Entertainment</c:v>
                </c:pt>
                <c:pt idx="12">
                  <c:v>SuperSport Blitz</c:v>
                </c:pt>
                <c:pt idx="13">
                  <c:v>Boomerang</c:v>
                </c:pt>
                <c:pt idx="14">
                  <c:v>CNN</c:v>
                </c:pt>
                <c:pt idx="15">
                  <c:v>Channel O</c:v>
                </c:pt>
                <c:pt idx="16">
                  <c:v>Supersport Live Events</c:v>
                </c:pt>
                <c:pt idx="17">
                  <c:v>Trace TV</c:v>
                </c:pt>
                <c:pt idx="18">
                  <c:v>ICC Cricket World Cup 2011</c:v>
                </c:pt>
              </c:strCache>
            </c:strRef>
          </c:cat>
          <c:val>
            <c:numRef>
              <c:f>Sheet4!$B$4:$B$23</c:f>
              <c:numCache>
                <c:formatCode>General</c:formatCode>
                <c:ptCount val="19"/>
                <c:pt idx="0">
                  <c:v>10.333333333333334</c:v>
                </c:pt>
                <c:pt idx="1">
                  <c:v>46.63963963963964</c:v>
                </c:pt>
                <c:pt idx="2">
                  <c:v>48.636363636363633</c:v>
                </c:pt>
                <c:pt idx="3">
                  <c:v>76.65625</c:v>
                </c:pt>
                <c:pt idx="4">
                  <c:v>121.05172413793103</c:v>
                </c:pt>
                <c:pt idx="5">
                  <c:v>141</c:v>
                </c:pt>
                <c:pt idx="6">
                  <c:v>147.09019607843138</c:v>
                </c:pt>
                <c:pt idx="7">
                  <c:v>162.66355140186917</c:v>
                </c:pt>
                <c:pt idx="8">
                  <c:v>204.44819557625146</c:v>
                </c:pt>
                <c:pt idx="9">
                  <c:v>216.53333333333333</c:v>
                </c:pt>
                <c:pt idx="10">
                  <c:v>318.93694829760403</c:v>
                </c:pt>
                <c:pt idx="11">
                  <c:v>362.79019073569481</c:v>
                </c:pt>
                <c:pt idx="12">
                  <c:v>364.33705357142856</c:v>
                </c:pt>
                <c:pt idx="13">
                  <c:v>369.37394957983196</c:v>
                </c:pt>
                <c:pt idx="14">
                  <c:v>483.16633663366338</c:v>
                </c:pt>
                <c:pt idx="15">
                  <c:v>660.87714285714287</c:v>
                </c:pt>
                <c:pt idx="16">
                  <c:v>679.22864019253916</c:v>
                </c:pt>
                <c:pt idx="17">
                  <c:v>725.76365546218483</c:v>
                </c:pt>
                <c:pt idx="18">
                  <c:v>1012.7317406143345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C9-4F1F-A70F-DC3E071674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00394288"/>
        <c:axId val="1600389296"/>
      </c:barChart>
      <c:catAx>
        <c:axId val="16003942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0389296"/>
        <c:crosses val="autoZero"/>
        <c:auto val="1"/>
        <c:lblAlgn val="ctr"/>
        <c:lblOffset val="100"/>
        <c:noMultiLvlLbl val="0"/>
      </c:catAx>
      <c:valAx>
        <c:axId val="1600389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0394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1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9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6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6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2793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3" r:id="rId4"/>
    <p:sldLayoutId id="2147483667" r:id="rId5"/>
    <p:sldLayoutId id="2147483668" r:id="rId6"/>
    <p:sldLayoutId id="2147483669" r:id="rId7"/>
    <p:sldLayoutId id="2147483650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Bright TV Viewership Analytics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GB" sz="2700" b="0" dirty="0"/>
              <a:t>Driving Subscription Growth Through Data Insights</a:t>
            </a:r>
            <a:endParaRPr lang="en-US" sz="2700" b="0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2048BD92-647F-33AD-A0B3-2AB2D7BE464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3" b="12953"/>
          <a:stretch/>
        </p:blipFill>
        <p:spPr>
          <a:xfrm>
            <a:off x="812582" y="1748882"/>
            <a:ext cx="5395188" cy="3997494"/>
          </a:xfrm>
          <a:prstGeom prst="roundRect">
            <a:avLst>
              <a:gd name="adj" fmla="val 5229"/>
            </a:avLst>
          </a:prstGeom>
        </p:spPr>
      </p:pic>
    </p:spTree>
    <p:extLst>
      <p:ext uri="{BB962C8B-B14F-4D97-AF65-F5344CB8AC3E}">
        <p14:creationId xmlns:p14="http://schemas.microsoft.com/office/powerpoint/2010/main" val="418666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A7895-3FBB-9134-6284-4A5950F5B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F04B66-5C68-5FD6-773C-3016CF0ACC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07001" y="2666311"/>
            <a:ext cx="4831209" cy="3478944"/>
          </a:xfrm>
        </p:spPr>
        <p:txBody>
          <a:bodyPr/>
          <a:lstStyle/>
          <a:p>
            <a:r>
              <a:rPr lang="en-GB" dirty="0"/>
              <a:t>Introduction  </a:t>
            </a:r>
          </a:p>
          <a:p>
            <a:r>
              <a:rPr lang="en-GB" dirty="0"/>
              <a:t>Business Objective  </a:t>
            </a:r>
          </a:p>
          <a:p>
            <a:r>
              <a:rPr lang="en-GB" dirty="0"/>
              <a:t>Data Preparation (SQL)  </a:t>
            </a:r>
          </a:p>
          <a:p>
            <a:r>
              <a:rPr lang="en-GB" dirty="0"/>
              <a:t>Exploratory Data Analysis  </a:t>
            </a:r>
          </a:p>
          <a:p>
            <a:r>
              <a:rPr lang="en-GB" dirty="0"/>
              <a:t>Key Insights  </a:t>
            </a:r>
          </a:p>
          <a:p>
            <a:r>
              <a:rPr lang="en-GB" dirty="0"/>
              <a:t>Recommendations  </a:t>
            </a:r>
          </a:p>
          <a:p>
            <a:r>
              <a:rPr lang="en-GB" dirty="0"/>
              <a:t>Conclusion 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F36102-91E3-B5B6-05D2-563D2642C9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D7AEB-F2F3-44D1-919B-930C13EDC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160" y="399857"/>
            <a:ext cx="5364700" cy="626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0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F5A1F-B233-C75A-B7DC-066E53119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0033" y="-922683"/>
            <a:ext cx="4505155" cy="289449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Dataset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B322C-92BF-3972-EB9C-80C69BC2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37921" y="1707652"/>
            <a:ext cx="8226692" cy="4321991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This analysis is based on two key datasets:</a:t>
            </a:r>
          </a:p>
          <a:p>
            <a:endParaRPr lang="en-GB" dirty="0"/>
          </a:p>
          <a:p>
            <a:r>
              <a:rPr lang="en-GB" dirty="0"/>
              <a:t>• </a:t>
            </a:r>
            <a:r>
              <a:rPr lang="en-GB" b="1" dirty="0"/>
              <a:t>Viewership Data  </a:t>
            </a:r>
          </a:p>
          <a:p>
            <a:r>
              <a:rPr lang="en-GB" dirty="0"/>
              <a:t>  - User viewing sessions  </a:t>
            </a:r>
          </a:p>
          <a:p>
            <a:r>
              <a:rPr lang="en-GB" dirty="0"/>
              <a:t>  - Channels watched  </a:t>
            </a:r>
          </a:p>
          <a:p>
            <a:r>
              <a:rPr lang="en-GB" dirty="0"/>
              <a:t>  - Watch timestamps and duration  </a:t>
            </a:r>
          </a:p>
          <a:p>
            <a:endParaRPr lang="en-GB" dirty="0"/>
          </a:p>
          <a:p>
            <a:r>
              <a:rPr lang="en-GB" dirty="0"/>
              <a:t>• </a:t>
            </a:r>
            <a:r>
              <a:rPr lang="en-GB" b="1" dirty="0"/>
              <a:t>User Profile Data  </a:t>
            </a:r>
          </a:p>
          <a:p>
            <a:r>
              <a:rPr lang="en-GB" dirty="0"/>
              <a:t>  - Age, Gender, Province  </a:t>
            </a:r>
          </a:p>
          <a:p>
            <a:r>
              <a:rPr lang="en-GB" dirty="0"/>
              <a:t>  - Customer demographic information  </a:t>
            </a:r>
          </a:p>
          <a:p>
            <a:endParaRPr lang="en-GB" dirty="0"/>
          </a:p>
          <a:p>
            <a:r>
              <a:rPr lang="en-GB" dirty="0"/>
              <a:t>These datasets were joined using </a:t>
            </a:r>
            <a:r>
              <a:rPr lang="en-GB" dirty="0" err="1"/>
              <a:t>UserID</a:t>
            </a:r>
            <a:r>
              <a:rPr lang="en-GB" dirty="0"/>
              <a:t> to create a complete view of user behaviour.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F67C-5190-34BB-E17A-1733452721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62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FF48-132C-6DAA-622E-E58AF3A8D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6025" y="-976116"/>
            <a:ext cx="9143999" cy="2162065"/>
          </a:xfrm>
        </p:spPr>
        <p:txBody>
          <a:bodyPr/>
          <a:lstStyle/>
          <a:p>
            <a:r>
              <a:rPr lang="en-US" dirty="0"/>
              <a:t>Data Preparation (SQL)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2841-47C6-02F9-83CF-508A0ADF0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040" y="1410060"/>
            <a:ext cx="9286240" cy="5100320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The raw datasets were cleaned and transformed using SQL in Databricks:</a:t>
            </a:r>
          </a:p>
          <a:p>
            <a:endParaRPr lang="en-GB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•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Converted timestamps from UTC to South African time  </a:t>
            </a: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•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Cleaned and standardized duration values  </a:t>
            </a:r>
          </a:p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• Joined viewership and user profile datasets using </a:t>
            </a:r>
            <a:r>
              <a:rPr lang="en-GB" b="1" dirty="0" err="1">
                <a:solidFill>
                  <a:schemeClr val="accent2">
                    <a:lumMod val="75000"/>
                  </a:schemeClr>
                </a:solidFill>
              </a:rPr>
              <a:t>UserID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• Created new features:</a:t>
            </a: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  - Watch hour  </a:t>
            </a: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  - Day of week  </a:t>
            </a:r>
          </a:p>
          <a:p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• Built a final analytical dataset for reporting and analysis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C4D93-CBC8-E70B-5147-AEC324F7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44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9A0-AB25-231D-F1BE-533B41CC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4566" y="-316484"/>
            <a:ext cx="7977434" cy="2066052"/>
          </a:xfrm>
        </p:spPr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B449-06A6-DA15-9625-E5279E21ED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9926" y="1178561"/>
            <a:ext cx="2448558" cy="482092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Initial analysis was conducted to understand user behaviour patterns:</a:t>
            </a:r>
          </a:p>
          <a:p>
            <a:endParaRPr lang="en-GB" dirty="0"/>
          </a:p>
          <a:p>
            <a:r>
              <a:rPr lang="en-GB" dirty="0"/>
              <a:t>• Identified peak viewing hours across the day  </a:t>
            </a:r>
          </a:p>
          <a:p>
            <a:r>
              <a:rPr lang="en-GB" dirty="0"/>
              <a:t>• Analysed engagement trends by day of the week  </a:t>
            </a:r>
          </a:p>
          <a:p>
            <a:r>
              <a:rPr lang="en-GB" dirty="0"/>
              <a:t>• Measured total sessions and watch time over time  </a:t>
            </a:r>
          </a:p>
          <a:p>
            <a:r>
              <a:rPr lang="en-GB" dirty="0"/>
              <a:t>• Detected patterns in high and low consumption periods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7B143F6-7BFF-498E-8393-54D9CB0A09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9876419"/>
              </p:ext>
            </p:extLst>
          </p:nvPr>
        </p:nvGraphicFramePr>
        <p:xfrm>
          <a:off x="3296004" y="1338580"/>
          <a:ext cx="8398156" cy="4180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9F9E-EC8A-09BD-BA33-8D977519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822" y="-393296"/>
            <a:ext cx="11040018" cy="2862322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Peak Viewing Hours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617AD-09E2-07D1-0572-86BE7139B9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D70E89-80AD-40F8-9854-3E847C5EBB3C}"/>
              </a:ext>
            </a:extLst>
          </p:cNvPr>
          <p:cNvSpPr txBox="1"/>
          <p:nvPr/>
        </p:nvSpPr>
        <p:spPr>
          <a:xfrm>
            <a:off x="9265920" y="2152057"/>
            <a:ext cx="259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92D050"/>
                </a:solidFill>
              </a:rPr>
              <a:t>• User activity peaks during evening hours  </a:t>
            </a:r>
          </a:p>
          <a:p>
            <a:r>
              <a:rPr lang="en-GB" sz="1200" dirty="0">
                <a:solidFill>
                  <a:srgbClr val="92D050"/>
                </a:solidFill>
              </a:rPr>
              <a:t>• Lower engagement observed during early morning  </a:t>
            </a:r>
          </a:p>
          <a:p>
            <a:endParaRPr lang="en-GB" sz="1200" dirty="0">
              <a:solidFill>
                <a:srgbClr val="92D050"/>
              </a:solidFill>
            </a:endParaRPr>
          </a:p>
          <a:p>
            <a:r>
              <a:rPr lang="en-GB" sz="1200" dirty="0">
                <a:solidFill>
                  <a:srgbClr val="92D050"/>
                </a:solidFill>
              </a:rPr>
              <a:t>This indicates that users prefer consuming content after work hours.</a:t>
            </a:r>
            <a:endParaRPr lang="en-ZA" sz="1200" dirty="0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167B0-ACCE-471E-8475-37836D897F7B}"/>
              </a:ext>
            </a:extLst>
          </p:cNvPr>
          <p:cNvSpPr txBox="1"/>
          <p:nvPr/>
        </p:nvSpPr>
        <p:spPr>
          <a:xfrm>
            <a:off x="424886" y="6382767"/>
            <a:ext cx="11342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B050"/>
                </a:solidFill>
              </a:rPr>
              <a:t>Recommendation:</a:t>
            </a:r>
          </a:p>
          <a:p>
            <a:r>
              <a:rPr lang="en-GB" sz="1200" dirty="0">
                <a:solidFill>
                  <a:srgbClr val="00B050"/>
                </a:solidFill>
              </a:rPr>
              <a:t>Schedule premium content releases and push notifications during peak evening hours to maximize engagement.</a:t>
            </a:r>
            <a:endParaRPr lang="en-ZA" sz="1200" dirty="0">
              <a:solidFill>
                <a:srgbClr val="00B050"/>
              </a:solidFill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4067D5BD-7E56-48E4-A9DB-6DACE6E1C8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164353"/>
              </p:ext>
            </p:extLst>
          </p:nvPr>
        </p:nvGraphicFramePr>
        <p:xfrm>
          <a:off x="762000" y="1574800"/>
          <a:ext cx="7620000" cy="400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782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991" y="-1511422"/>
            <a:ext cx="5163939" cy="2474204"/>
          </a:xfrm>
        </p:spPr>
        <p:txBody>
          <a:bodyPr/>
          <a:lstStyle/>
          <a:p>
            <a:r>
              <a:rPr lang="en-US" dirty="0"/>
              <a:t>Peak Viewing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87FC-D1FD-80FF-11CA-504D9B1DB9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39201" y="347621"/>
            <a:ext cx="3021590" cy="1806300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/>
              <a:t>Stands out in market</a:t>
            </a:r>
          </a:p>
          <a:p>
            <a:r>
              <a:rPr lang="en-US" sz="1400" dirty="0"/>
              <a:t>Innovative features</a:t>
            </a:r>
          </a:p>
          <a:p>
            <a:r>
              <a:rPr lang="en-US" sz="1400" dirty="0"/>
              <a:t>Provides unique solution</a:t>
            </a:r>
          </a:p>
          <a:p>
            <a:r>
              <a:rPr lang="en-US" sz="1400" dirty="0"/>
              <a:t>Edge over competitors</a:t>
            </a:r>
          </a:p>
          <a:p>
            <a:r>
              <a:rPr lang="en-US" sz="1400" dirty="0"/>
              <a:t>User-focused design</a:t>
            </a:r>
          </a:p>
          <a:p>
            <a:r>
              <a:rPr lang="en-US" sz="1400" dirty="0"/>
              <a:t>Prioritizes user experience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067D5BD-7E56-48E4-A9DB-6DACE6E1C8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1723302"/>
              </p:ext>
            </p:extLst>
          </p:nvPr>
        </p:nvGraphicFramePr>
        <p:xfrm>
          <a:off x="331209" y="1075097"/>
          <a:ext cx="8436870" cy="5252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E6599B-92EE-DA04-9056-C282E455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-258509"/>
            <a:ext cx="11430000" cy="1325563"/>
          </a:xfrm>
        </p:spPr>
        <p:txBody>
          <a:bodyPr/>
          <a:lstStyle/>
          <a:p>
            <a:r>
              <a:rPr lang="en-US" dirty="0"/>
              <a:t>Top Performing Channels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3533C-26FD-AEBE-6ACB-A4F973AC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772" y="4088627"/>
            <a:ext cx="2180024" cy="21923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000" dirty="0">
                <a:highlight>
                  <a:srgbClr val="808000"/>
                </a:highlight>
              </a:rPr>
              <a:t>• Certain channels drive significantly higher engagement  </a:t>
            </a:r>
          </a:p>
          <a:p>
            <a:pPr marL="0" indent="0">
              <a:buNone/>
            </a:pPr>
            <a:r>
              <a:rPr lang="en-GB" sz="1000" dirty="0">
                <a:highlight>
                  <a:srgbClr val="808000"/>
                </a:highlight>
              </a:rPr>
              <a:t>• Sports and live events dominate viewer attention  </a:t>
            </a:r>
          </a:p>
          <a:p>
            <a:pPr marL="0" indent="0">
              <a:buNone/>
            </a:pPr>
            <a:r>
              <a:rPr lang="en-GB" sz="1000" dirty="0">
                <a:highlight>
                  <a:srgbClr val="808000"/>
                </a:highlight>
              </a:rPr>
              <a:t>• Long-form content leads to higher average watch time  </a:t>
            </a:r>
          </a:p>
          <a:p>
            <a:pPr marL="0" indent="0">
              <a:buNone/>
            </a:pPr>
            <a:r>
              <a:rPr lang="en-GB" sz="1000" dirty="0">
                <a:highlight>
                  <a:srgbClr val="808000"/>
                </a:highlight>
              </a:rPr>
              <a:t>• Some channels have high views but low engagement  </a:t>
            </a:r>
          </a:p>
          <a:p>
            <a:endParaRPr lang="en-GB" sz="1000" dirty="0">
              <a:highlight>
                <a:srgbClr val="808000"/>
              </a:highlight>
            </a:endParaRPr>
          </a:p>
          <a:p>
            <a:pPr marL="0" indent="0">
              <a:buNone/>
            </a:pPr>
            <a:r>
              <a:rPr lang="en-GB" sz="1000" dirty="0">
                <a:highlight>
                  <a:srgbClr val="808000"/>
                </a:highlight>
              </a:rPr>
              <a:t>Content type strongly influences user retention</a:t>
            </a:r>
            <a:endParaRPr lang="en-US" sz="1000" dirty="0">
              <a:highlight>
                <a:srgbClr val="808000"/>
              </a:highligh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32BDC-58BE-5669-7C02-6227C42B53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A11DB8D-D194-4EE5-A07C-C069724E0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6609428"/>
              </p:ext>
            </p:extLst>
          </p:nvPr>
        </p:nvGraphicFramePr>
        <p:xfrm>
          <a:off x="3139440" y="1135740"/>
          <a:ext cx="7782560" cy="537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961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865FC3-5E5A-2CB6-EF6D-0D318425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GB" dirty="0"/>
              <a:t>Total Watch Time by Province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1D7CA-E9C7-0293-D696-D1D3BCE5B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8640" y="1551305"/>
            <a:ext cx="2611120" cy="2939415"/>
          </a:xfrm>
        </p:spPr>
        <p:txBody>
          <a:bodyPr>
            <a:normAutofit fontScale="92500" lnSpcReduction="20000"/>
          </a:bodyPr>
          <a:lstStyle/>
          <a:p>
            <a:r>
              <a:rPr lang="en-GB" sz="1600" dirty="0"/>
              <a:t>Gauteng leads viewer engagement by a significant margin</a:t>
            </a:r>
          </a:p>
          <a:p>
            <a:r>
              <a:rPr lang="en-GB" sz="1600" dirty="0"/>
              <a:t>Western Cape is the second strongest region</a:t>
            </a:r>
          </a:p>
          <a:p>
            <a:r>
              <a:rPr lang="en-GB" sz="1600" dirty="0"/>
              <a:t>KwaZulu-Natal shows solid mid-level engagement</a:t>
            </a:r>
          </a:p>
          <a:p>
            <a:r>
              <a:rPr lang="en-GB" sz="1600" dirty="0"/>
              <a:t>Lower engagement observed in Free State and North West</a:t>
            </a:r>
            <a:endParaRPr lang="en-US"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C76580-2AD8-C4C1-30CB-9530F6DE72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D0394E8-5F09-490E-A1CA-55EDB4E909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387440"/>
              </p:ext>
            </p:extLst>
          </p:nvPr>
        </p:nvGraphicFramePr>
        <p:xfrm>
          <a:off x="518159" y="1706562"/>
          <a:ext cx="8197613" cy="4531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215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8D247-2C7D-1DC0-87DE-679FF2F4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ZA" dirty="0"/>
              <a:t>Most Viewed TV Channels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B195E-449B-6D1C-97A2-99C5CAFA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0186" y="1571625"/>
            <a:ext cx="3651814" cy="2157095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ICC Cricket World Cup 2011 has the highest viewership</a:t>
            </a:r>
          </a:p>
          <a:p>
            <a:r>
              <a:rPr lang="en-GB" dirty="0"/>
              <a:t>SuperSport Live Events and Trace TV are also highly popular</a:t>
            </a:r>
          </a:p>
          <a:p>
            <a:r>
              <a:rPr lang="en-GB" dirty="0"/>
              <a:t>Sports-related content dominates viewer interest</a:t>
            </a:r>
          </a:p>
          <a:p>
            <a:r>
              <a:rPr lang="en-GB" dirty="0"/>
              <a:t>Some channels show significantly lower engagement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1400D-A5B1-7DF5-73CA-6C020EFD7A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A11DB8D-D194-4EE5-A07C-C069724E0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731776"/>
              </p:ext>
            </p:extLst>
          </p:nvPr>
        </p:nvGraphicFramePr>
        <p:xfrm>
          <a:off x="182880" y="1468120"/>
          <a:ext cx="8178800" cy="4932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2741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6B3-6688-F44F-0765-B9F7F44F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-76200"/>
            <a:ext cx="11430000" cy="1325563"/>
          </a:xfrm>
        </p:spPr>
        <p:txBody>
          <a:bodyPr/>
          <a:lstStyle/>
          <a:p>
            <a:r>
              <a:rPr lang="en-GB" b="1" dirty="0"/>
              <a:t>Top Channels by Average Watch Time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C50F920-B564-484F-89FA-567F945E3B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862348"/>
              </p:ext>
            </p:extLst>
          </p:nvPr>
        </p:nvGraphicFramePr>
        <p:xfrm>
          <a:off x="381000" y="1368065"/>
          <a:ext cx="9093200" cy="5108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080DF01-E2F8-44ED-B202-A05CBA6C9006}"/>
              </a:ext>
            </a:extLst>
          </p:cNvPr>
          <p:cNvSpPr txBox="1"/>
          <p:nvPr/>
        </p:nvSpPr>
        <p:spPr>
          <a:xfrm>
            <a:off x="10078720" y="1503680"/>
            <a:ext cx="183896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FFF00"/>
                </a:solidFill>
              </a:rPr>
              <a:t>• ICC Cricket World Cup content has the highest average watch time</a:t>
            </a:r>
          </a:p>
          <a:p>
            <a:endParaRPr lang="en-GB" sz="1100" dirty="0">
              <a:solidFill>
                <a:srgbClr val="FFFF00"/>
              </a:solidFill>
            </a:endParaRPr>
          </a:p>
          <a:p>
            <a:r>
              <a:rPr lang="en-GB" sz="1100" dirty="0">
                <a:solidFill>
                  <a:srgbClr val="FFFF00"/>
                </a:solidFill>
              </a:rPr>
              <a:t>• Live sports events keep viewers engaged for longer periods</a:t>
            </a:r>
          </a:p>
          <a:p>
            <a:endParaRPr lang="en-GB" sz="1100" dirty="0">
              <a:solidFill>
                <a:srgbClr val="FFFF00"/>
              </a:solidFill>
            </a:endParaRPr>
          </a:p>
          <a:p>
            <a:r>
              <a:rPr lang="en-GB" sz="1100" dirty="0">
                <a:solidFill>
                  <a:srgbClr val="FFFF00"/>
                </a:solidFill>
              </a:rPr>
              <a:t>• Some channels have high views but lower engagement duration</a:t>
            </a:r>
          </a:p>
          <a:p>
            <a:endParaRPr lang="en-GB" sz="1100" dirty="0">
              <a:solidFill>
                <a:srgbClr val="FFFF00"/>
              </a:solidFill>
            </a:endParaRPr>
          </a:p>
          <a:p>
            <a:r>
              <a:rPr lang="en-GB" sz="1100" dirty="0">
                <a:solidFill>
                  <a:srgbClr val="FFFF00"/>
                </a:solidFill>
              </a:rPr>
              <a:t>• Viewer retention varies     significantly across channels</a:t>
            </a:r>
            <a:endParaRPr lang="en-ZA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EEFE-3603-56A9-02FC-A2488A18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ZA" dirty="0"/>
              <a:t>Final Insights &amp;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A292-2DDD-FBBA-7845-3B181E43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52" y="1825625"/>
            <a:ext cx="4678975" cy="4517302"/>
          </a:xfrm>
        </p:spPr>
        <p:txBody>
          <a:bodyPr/>
          <a:lstStyle/>
          <a:p>
            <a:r>
              <a:rPr lang="en-GB" dirty="0"/>
              <a:t>Viewer engagement peaks during afternoon and evening hours</a:t>
            </a:r>
          </a:p>
          <a:p>
            <a:r>
              <a:rPr lang="en-GB" dirty="0"/>
              <a:t>Sports content drives the highest viewership and engagement</a:t>
            </a:r>
          </a:p>
          <a:p>
            <a:r>
              <a:rPr lang="en-GB" dirty="0"/>
              <a:t>Gauteng and Western Cape are the strongest performing regions</a:t>
            </a:r>
          </a:p>
          <a:p>
            <a:r>
              <a:rPr lang="en-GB" dirty="0"/>
              <a:t>Weekends (especially Saturday) show the highest watch time</a:t>
            </a:r>
          </a:p>
          <a:p>
            <a:r>
              <a:rPr lang="en-GB" dirty="0"/>
              <a:t>Some channels have high views but low retention, indicating weaker engagement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B1359-DE2C-2BC6-174D-B7C0DB1F607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630160" y="5952084"/>
            <a:ext cx="382674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b="1" dirty="0">
                <a:solidFill>
                  <a:srgbClr val="FFFF00"/>
                </a:solidFill>
              </a:rPr>
              <a:t>Data-driven insights can significantly improve content strategy, viewer retention, and revenue growth.</a:t>
            </a:r>
            <a:endParaRPr lang="en-US" sz="1200" b="1" dirty="0">
              <a:solidFill>
                <a:srgbClr val="FFFF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7D425-ACCD-D8C2-7544-51EDA05C8F1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472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382344"/>
            <a:ext cx="4377767" cy="271933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A table and chairs in a room">
            <a:extLst>
              <a:ext uri="{FF2B5EF4-FFF2-40B4-BE49-F238E27FC236}">
                <a16:creationId xmlns:a16="http://schemas.microsoft.com/office/drawing/2014/main" id="{30452C6F-947C-89F5-F589-F6759321BB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" r="35"/>
          <a:stretch/>
        </p:blipFill>
        <p:spPr>
          <a:xfrm>
            <a:off x="911745" y="1751759"/>
            <a:ext cx="5394960" cy="399732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8618F-D769-F666-B1AD-B03C82DA1B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29992" y="3340800"/>
            <a:ext cx="4368450" cy="3166331"/>
          </a:xfrm>
        </p:spPr>
        <p:txBody>
          <a:bodyPr/>
          <a:lstStyle/>
          <a:p>
            <a:r>
              <a:rPr lang="en-US" dirty="0"/>
              <a:t>Remi Morris </a:t>
            </a:r>
          </a:p>
          <a:p>
            <a:r>
              <a:rPr lang="en-US" dirty="0"/>
              <a:t>remi@adatum.com</a:t>
            </a:r>
          </a:p>
          <a:p>
            <a:r>
              <a:rPr lang="en-US" dirty="0"/>
              <a:t>www.adatum.com</a:t>
            </a:r>
          </a:p>
        </p:txBody>
      </p:sp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A6AD6DB-9470-4861-90FA-528B22606C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A97A83-19EA-4F1C-BA10-74DE001096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4A2E04-D8A3-4CD6-A49A-4E88613CFB2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Vivid circles presentation</Template>
  <TotalTime>323</TotalTime>
  <Words>539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Madison</vt:lpstr>
      <vt:lpstr>Bright TV Viewership Analytics   Driving Subscription Growth Through Data Insights</vt:lpstr>
      <vt:lpstr>Agenda</vt:lpstr>
      <vt:lpstr>Dataset Overview</vt:lpstr>
      <vt:lpstr>Data Preparation (SQL)</vt:lpstr>
      <vt:lpstr>Exploratory Data Analysis</vt:lpstr>
      <vt:lpstr>Peak Viewing Hours</vt:lpstr>
      <vt:lpstr>Peak Viewing Days</vt:lpstr>
      <vt:lpstr>Top Performing Channels</vt:lpstr>
      <vt:lpstr>Total Watch Time by Province</vt:lpstr>
      <vt:lpstr>Most Viewed TV Channels</vt:lpstr>
      <vt:lpstr>Top Channels by Average Watch Time</vt:lpstr>
      <vt:lpstr>Final Insights &amp; 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Viewership Analytics   Driving Subscription Growth Through Data Insights</dc:title>
  <dc:creator>Siyabonga | Correctbook</dc:creator>
  <cp:lastModifiedBy>Siyabonga | Correctbook</cp:lastModifiedBy>
  <cp:revision>16</cp:revision>
  <dcterms:created xsi:type="dcterms:W3CDTF">2026-04-19T14:31:16Z</dcterms:created>
  <dcterms:modified xsi:type="dcterms:W3CDTF">2026-04-19T19:54:44Z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